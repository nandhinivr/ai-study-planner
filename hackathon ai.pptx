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99" r:id="rId6"/>
    <p:sldId id="287" r:id="rId7"/>
    <p:sldId id="282" r:id="rId8"/>
    <p:sldId id="258" r:id="rId9"/>
    <p:sldId id="286" r:id="rId10"/>
    <p:sldId id="290" r:id="rId11"/>
    <p:sldId id="288" r:id="rId12"/>
    <p:sldId id="291" r:id="rId13"/>
    <p:sldId id="294" r:id="rId14"/>
    <p:sldId id="295" r:id="rId15"/>
    <p:sldId id="296" r:id="rId16"/>
    <p:sldId id="297" r:id="rId17"/>
    <p:sldId id="298" r:id="rId18"/>
    <p:sldId id="277" r:id="rId19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97CD5D-8A3B-4EC4-91F3-919C294F3526}" v="1823" dt="2026-04-01T07:03:32.102"/>
    <p1510:client id="{19F993D0-99CF-4CDF-9CAC-86D8D337A91E}" v="708" dt="2026-04-01T04:37:58.094"/>
    <p1510:client id="{291A8943-A6C0-44B4-9A5D-551B5FC46A6C}" v="1262" dt="2026-04-01T08:40:35.390"/>
    <p1510:client id="{3A97BDE4-CCA9-4E3E-8E12-F59A8A49F003}" v="16" dt="2026-04-01T04:56:40.037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4/1/2026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4/1/2026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/>
          <a:p>
            <a:r>
              <a:rPr lang="en-US"/>
              <a:t>SMART AI </a:t>
            </a:r>
            <a:br>
              <a:rPr lang="en-US"/>
            </a:br>
            <a:r>
              <a:rPr lang="en-US"/>
              <a:t>STUDY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1022230"/>
          </a:xfrm>
        </p:spPr>
        <p:txBody>
          <a:bodyPr>
            <a:normAutofit/>
          </a:bodyPr>
          <a:lstStyle/>
          <a:p>
            <a:r>
              <a:rPr lang="en-US"/>
              <a:t>Plans for today and tomorrow</a:t>
            </a:r>
          </a:p>
          <a:p>
            <a:r>
              <a:rPr lang="en-US"/>
              <a:t>TEAM:TRINITY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C927F-FE7B-461B-AEE2-D11B6E74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713" y="1021629"/>
            <a:ext cx="4914900" cy="568805"/>
          </a:xfrm>
        </p:spPr>
        <p:txBody>
          <a:bodyPr/>
          <a:lstStyle/>
          <a:p>
            <a:r>
              <a:rPr lang="en-US"/>
              <a:t>TABLE OF CONTENTS</a:t>
            </a:r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4FD93045-8603-D2B9-FA90-D26FA803A5C7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540809492"/>
              </p:ext>
            </p:extLst>
          </p:nvPr>
        </p:nvGraphicFramePr>
        <p:xfrm>
          <a:off x="1053129" y="2490488"/>
          <a:ext cx="5855467" cy="3230232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13041">
                  <a:extLst>
                    <a:ext uri="{9D8B030D-6E8A-4147-A177-3AD203B41FA5}">
                      <a16:colId xmlns:a16="http://schemas.microsoft.com/office/drawing/2014/main" val="944463608"/>
                    </a:ext>
                  </a:extLst>
                </a:gridCol>
                <a:gridCol w="5342426">
                  <a:extLst>
                    <a:ext uri="{9D8B030D-6E8A-4147-A177-3AD203B41FA5}">
                      <a16:colId xmlns:a16="http://schemas.microsoft.com/office/drawing/2014/main" val="2966747193"/>
                    </a:ext>
                  </a:extLst>
                </a:gridCol>
              </a:tblGrid>
              <a:tr h="538372">
                <a:tc>
                  <a:txBody>
                    <a:bodyPr/>
                    <a:lstStyle/>
                    <a:p>
                      <a:r>
                        <a:rPr lang="en-US" b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PROBLEM STATEMENT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276295"/>
                  </a:ext>
                </a:extLst>
              </a:tr>
              <a:tr h="538372">
                <a:tc>
                  <a:txBody>
                    <a:bodyPr/>
                    <a:lstStyle/>
                    <a:p>
                      <a:r>
                        <a:rPr lang="en-US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SMART AI STUDY PLANNER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298665"/>
                  </a:ext>
                </a:extLst>
              </a:tr>
              <a:tr h="538372">
                <a:tc>
                  <a:txBody>
                    <a:bodyPr/>
                    <a:lstStyle/>
                    <a:p>
                      <a:r>
                        <a:rPr lang="en-US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TECHNICAL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672322"/>
                  </a:ext>
                </a:extLst>
              </a:tr>
              <a:tr h="538372">
                <a:tc>
                  <a:txBody>
                    <a:bodyPr/>
                    <a:lstStyle/>
                    <a:p>
                      <a:r>
                        <a:rPr lang="en-US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FEASIBILITY AND VIABILITY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929450"/>
                  </a:ext>
                </a:extLst>
              </a:tr>
              <a:tr h="538372">
                <a:tc>
                  <a:txBody>
                    <a:bodyPr/>
                    <a:lstStyle/>
                    <a:p>
                      <a:r>
                        <a:rPr lang="en-US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07351"/>
                  </a:ext>
                </a:extLst>
              </a:tr>
              <a:tr h="538372">
                <a:tc>
                  <a:txBody>
                    <a:bodyPr/>
                    <a:lstStyle/>
                    <a:p>
                      <a:r>
                        <a:rPr lang="en-US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USER -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94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585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B7E8-0021-2F85-BFD6-E565E75F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85" y="295352"/>
            <a:ext cx="4900527" cy="484517"/>
          </a:xfrm>
        </p:spPr>
        <p:txBody>
          <a:bodyPr>
            <a:normAutofit/>
          </a:bodyPr>
          <a:lstStyle/>
          <a:p>
            <a:r>
              <a:rPr lang="en-US" sz="2600"/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CE346-098A-F6A8-F456-0397F1991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144" y="780906"/>
            <a:ext cx="8036041" cy="56330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/>
              <a:t>Why build “AI Smart Study Planner”?</a:t>
            </a:r>
          </a:p>
          <a:p>
            <a:pPr marL="217170" indent="-171450">
              <a:buFont typeface="Wingdings" pitchFamily="34" charset="0"/>
              <a:buChar char="v"/>
            </a:pPr>
            <a:r>
              <a:rPr lang="en-US" sz="1500"/>
              <a:t>Students today face a very real problem—not a lack of resources, but too many disconnected tools.</a:t>
            </a:r>
          </a:p>
          <a:p>
            <a:r>
              <a:rPr lang="en-US" sz="1500"/>
              <a:t>Students typically: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 sz="1500"/>
              <a:t>Jump between apps for notes, flashcards, and mock tests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 sz="1500"/>
              <a:t>Do not know how to prioritize weak subjects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 sz="1500"/>
              <a:t>Waste time deciding what to study next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 sz="1500"/>
              <a:t>Lack personalized guidance unless they hire expensive tutors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 sz="1500"/>
              <a:t>Even with powerful tools like Google search or video platforms, the learning process remains :</a:t>
            </a:r>
          </a:p>
          <a:p>
            <a:r>
              <a:rPr lang="en-US" sz="1500"/>
              <a:t>      ❌ Manual</a:t>
            </a:r>
          </a:p>
          <a:p>
            <a:r>
              <a:rPr lang="en-US" sz="1500"/>
              <a:t>           ❌ Unstructured</a:t>
            </a:r>
          </a:p>
          <a:p>
            <a:r>
              <a:rPr lang="en-US" sz="1500"/>
              <a:t>                      ❌ Not adaptive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716563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B989A75-8BF6-6DE9-1AB9-424401DB39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771" y="388956"/>
            <a:ext cx="6372817" cy="6467651"/>
          </a:xfrm>
        </p:spPr>
        <p:txBody>
          <a:bodyPr/>
          <a:lstStyle/>
          <a:p>
            <a:r>
              <a:rPr lang="en-US" dirty="0"/>
              <a:t>                         </a:t>
            </a:r>
            <a:r>
              <a:rPr lang="en-US" b="1" dirty="0"/>
              <a:t> </a:t>
            </a:r>
            <a:r>
              <a:rPr lang="en-US" sz="2400" b="1"/>
              <a:t>SMART AI STUDY PLANNER</a:t>
            </a:r>
          </a:p>
          <a:p>
            <a:pPr>
              <a:buFont typeface="Wingdings" pitchFamily="34" charset="0"/>
              <a:buChar char="v"/>
            </a:pPr>
            <a:r>
              <a:rPr lang="en-US" dirty="0">
                <a:ea typeface="+mn-lt"/>
                <a:cs typeface="+mn-lt"/>
              </a:rPr>
              <a:t>Generates a personalized day-wise study plan using AI (via </a:t>
            </a:r>
            <a:r>
              <a:rPr lang="en-US" dirty="0" err="1">
                <a:ea typeface="+mn-lt"/>
                <a:cs typeface="+mn-lt"/>
              </a:rPr>
              <a:t>Groq</a:t>
            </a:r>
            <a:r>
              <a:rPr lang="en-US" dirty="0">
                <a:ea typeface="+mn-lt"/>
                <a:cs typeface="+mn-lt"/>
              </a:rPr>
              <a:t> ) based on syllabus, goals, and exam date.</a:t>
            </a:r>
            <a:endParaRPr lang="en-US" dirty="0">
              <a:latin typeface="Century Gothic"/>
              <a:ea typeface="Calibri"/>
              <a:cs typeface="Calibri"/>
            </a:endParaRPr>
          </a:p>
          <a:p>
            <a:pPr>
              <a:buClr>
                <a:srgbClr val="595959"/>
              </a:buClr>
              <a:buFont typeface="Wingdings" pitchFamily="34" charset="0"/>
              <a:buChar char="v"/>
            </a:pPr>
            <a:r>
              <a:rPr lang="en-US">
                <a:ea typeface="+mn-lt"/>
                <a:cs typeface="+mn-lt"/>
              </a:rPr>
              <a:t>Converts syllabus into structured, exam-oriented notes with key points and important questions.</a:t>
            </a:r>
            <a:endParaRPr lang="en-US"/>
          </a:p>
          <a:p>
            <a:pPr>
              <a:buClr>
                <a:srgbClr val="595959"/>
              </a:buClr>
              <a:buFont typeface="Wingdings" pitchFamily="34" charset="0"/>
              <a:buChar char="v"/>
            </a:pPr>
            <a:r>
              <a:rPr lang="en-US">
                <a:ea typeface="+mn-lt"/>
                <a:cs typeface="+mn-lt"/>
              </a:rPr>
              <a:t>Creates intelligent flashcards for active recall and better memory retention.</a:t>
            </a:r>
            <a:endParaRPr lang="en-US"/>
          </a:p>
          <a:p>
            <a:pPr>
              <a:buClr>
                <a:srgbClr val="595959"/>
              </a:buClr>
              <a:buFont typeface="Wingdings" pitchFamily="34" charset="0"/>
              <a:buChar char="v"/>
            </a:pPr>
            <a:r>
              <a:rPr lang="en-US">
                <a:ea typeface="+mn-lt"/>
                <a:cs typeface="+mn-lt"/>
              </a:rPr>
              <a:t>Builds custom mock tests with user-defined patterns for realistic exam practice.</a:t>
            </a:r>
            <a:endParaRPr lang="en-US"/>
          </a:p>
          <a:p>
            <a:pPr>
              <a:buClr>
                <a:srgbClr val="595959"/>
              </a:buClr>
              <a:buFont typeface="Wingdings" pitchFamily="34" charset="0"/>
              <a:buChar char="v"/>
            </a:pPr>
            <a:r>
              <a:rPr lang="en-US">
                <a:ea typeface="+mn-lt"/>
                <a:cs typeface="+mn-lt"/>
              </a:rPr>
              <a:t>Improves focus and productivity with an integrated Pomodoro timer system.</a:t>
            </a:r>
            <a:endParaRPr lang="en-US"/>
          </a:p>
          <a:p>
            <a:pPr>
              <a:buClr>
                <a:srgbClr val="595959"/>
              </a:buClr>
              <a:buFont typeface="Arial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Converts AI-generated notes and content into </a:t>
            </a:r>
            <a:r>
              <a:rPr lang="en-US">
                <a:ea typeface="+mn-lt"/>
                <a:cs typeface="+mn-lt"/>
              </a:rPr>
              <a:t>audio. Allows</a:t>
            </a:r>
            <a:r>
              <a:rPr lang="en-US" dirty="0">
                <a:ea typeface="+mn-lt"/>
                <a:cs typeface="+mn-lt"/>
              </a:rPr>
              <a:t> students to listen instead of reading</a:t>
            </a:r>
            <a:endParaRPr lang="en-US" dirty="0"/>
          </a:p>
          <a:p>
            <a:pPr marL="388620" indent="-342900">
              <a:buClr>
                <a:srgbClr val="595959"/>
              </a:buClr>
              <a:buFont typeface="Wingdings" pitchFamily="34" charset="0"/>
              <a:buChar char="v"/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4A725036-3F4A-5A1C-4423-76EC59CF92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/>
          <a:srcRect l="3430" r="3430"/>
          <a:stretch/>
        </p:blipFill>
        <p:spPr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4529" y="281068"/>
            <a:ext cx="4914900" cy="470140"/>
          </a:xfrm>
        </p:spPr>
        <p:txBody>
          <a:bodyPr anchor="t">
            <a:normAutofit/>
          </a:bodyPr>
          <a:lstStyle/>
          <a:p>
            <a:r>
              <a:rPr lang="en-US" sz="2300"/>
              <a:t> 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894" y="1265367"/>
            <a:ext cx="7877931" cy="5460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31470" indent="-285750">
              <a:buFont typeface="Wingdings" pitchFamily="34" charset="0"/>
              <a:buChar char="v"/>
            </a:pPr>
            <a:r>
              <a:rPr lang="en-US"/>
              <a:t>The frontend is built using </a:t>
            </a:r>
            <a:r>
              <a:rPr lang="en-US" b="1"/>
              <a:t>HTML </a:t>
            </a:r>
            <a:r>
              <a:rPr lang="en-US"/>
              <a:t>for structure, </a:t>
            </a:r>
            <a:r>
              <a:rPr lang="en-US" b="1"/>
              <a:t>CSS </a:t>
            </a:r>
            <a:r>
              <a:rPr lang="en-US"/>
              <a:t>for styling and responsive design, and JavaScript (with </a:t>
            </a:r>
            <a:r>
              <a:rPr lang="en-US" b="1"/>
              <a:t>React</a:t>
            </a:r>
            <a:r>
              <a:rPr lang="en-US"/>
              <a:t>) to create dynamic, interactive user interfaces.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It handles user input, displays AI-generated content, and communicates with backend services for real-time updates.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The backend is built using JavaScript with </a:t>
            </a:r>
            <a:r>
              <a:rPr lang="en-US" b="1"/>
              <a:t>Node.js</a:t>
            </a:r>
            <a:r>
              <a:rPr lang="en-US"/>
              <a:t> and integrates AI services like </a:t>
            </a:r>
            <a:r>
              <a:rPr lang="en-US" err="1"/>
              <a:t>Groq</a:t>
            </a:r>
            <a:r>
              <a:rPr lang="en-US"/>
              <a:t> to process user input, generate study content, and handle application logic.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The database uses </a:t>
            </a:r>
            <a:r>
              <a:rPr lang="en-US" b="1"/>
              <a:t>Firebase</a:t>
            </a:r>
            <a:r>
              <a:rPr lang="en-US"/>
              <a:t> to securely store user data, notes, study plans, and authentication details in real time.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8AE9-2384-32B1-B909-5D834A247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614" y="281068"/>
            <a:ext cx="4900527" cy="470140"/>
          </a:xfrm>
        </p:spPr>
        <p:txBody>
          <a:bodyPr/>
          <a:lstStyle/>
          <a:p>
            <a:r>
              <a:rPr lang="en-US" sz="2300"/>
              <a:t>FEASIBILITY AND VIABILITY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FE1F7-A6AA-E532-C706-F37E47695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949" y="869924"/>
            <a:ext cx="7992920" cy="554678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/>
              <a:t> </a:t>
            </a:r>
            <a:r>
              <a:rPr lang="en-US" b="1"/>
              <a:t>Feasibility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Uses reliable technologies like React, Firebase, and OpenAI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Easy integration through APIs and ready-made services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Scalable cloud-based infrastructure (no physical setup needed)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Cost-effective with free tiers and pay-as-you-go pricing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Can be developed step-by-step (modular approach)</a:t>
            </a:r>
          </a:p>
          <a:p>
            <a:r>
              <a:rPr lang="en-US"/>
              <a:t> </a:t>
            </a:r>
            <a:r>
              <a:rPr lang="en-US" b="1"/>
              <a:t>Viability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High demand for personalized and AI-based learning tools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Combines multiple features (notes, tests, planner) into one app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Monetization via freemium and subscription models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Useful for a wide range of students (school to competitive exams)</a:t>
            </a:r>
          </a:p>
          <a:p>
            <a:pPr marL="331470" indent="-285750">
              <a:buFont typeface="Wingdings" pitchFamily="34" charset="0"/>
              <a:buChar char="v"/>
            </a:pPr>
            <a:r>
              <a:rPr lang="en-US"/>
              <a:t>Strong potential for growth and future feature expansion.</a:t>
            </a:r>
          </a:p>
        </p:txBody>
      </p:sp>
    </p:spTree>
    <p:extLst>
      <p:ext uri="{BB962C8B-B14F-4D97-AF65-F5344CB8AC3E}">
        <p14:creationId xmlns:p14="http://schemas.microsoft.com/office/powerpoint/2010/main" val="3033177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13C0-0539-C0C5-B998-C599563AF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564" y="225039"/>
            <a:ext cx="4896585" cy="577961"/>
          </a:xfrm>
        </p:spPr>
        <p:txBody>
          <a:bodyPr/>
          <a:lstStyle/>
          <a:p>
            <a:r>
              <a:rPr lang="en-US"/>
              <a:t>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34580C-3307-12D8-EE66-5B8718C02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802695"/>
            <a:ext cx="7484130" cy="60618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/>
              <a:t>1. Personalized Learning</a:t>
            </a:r>
          </a:p>
          <a:p>
            <a:r>
              <a:rPr lang="en-US" sz="1200"/>
              <a:t>   Study plans based on individual goals and performance</a:t>
            </a:r>
          </a:p>
          <a:p>
            <a:r>
              <a:rPr lang="en-US" sz="1200"/>
              <a:t>2. Better Time Management</a:t>
            </a:r>
          </a:p>
          <a:p>
            <a:r>
              <a:rPr lang="en-US" sz="1200"/>
              <a:t>    Organized schedules and focus sessions</a:t>
            </a:r>
          </a:p>
          <a:p>
            <a:r>
              <a:rPr lang="en-US" sz="1200"/>
              <a:t>3. Improved Understanding</a:t>
            </a:r>
          </a:p>
          <a:p>
            <a:r>
              <a:rPr lang="en-US" sz="1200"/>
              <a:t>             AI-generated notes simplify complex topics</a:t>
            </a:r>
          </a:p>
          <a:p>
            <a:r>
              <a:rPr lang="en-US" sz="1200"/>
              <a:t>4. Stronger Memory</a:t>
            </a:r>
          </a:p>
          <a:p>
            <a:r>
              <a:rPr lang="en-US" sz="1200"/>
              <a:t>              Flashcards help in quick revision and retention</a:t>
            </a:r>
          </a:p>
          <a:p>
            <a:r>
              <a:rPr lang="en-US" sz="1200"/>
              <a:t>5. Exam Confidence</a:t>
            </a:r>
          </a:p>
          <a:p>
            <a:r>
              <a:rPr lang="en-US" sz="1200"/>
              <a:t>              Custom mock tests improve exam readiness</a:t>
            </a:r>
          </a:p>
          <a:p>
            <a:r>
              <a:rPr lang="en-US" sz="1200"/>
              <a:t>6. Increased Productivity</a:t>
            </a:r>
          </a:p>
          <a:p>
            <a:r>
              <a:rPr lang="en-US" sz="1200"/>
              <a:t>                Task tracking and Pomodoro timer boost efficiency (reducing distractions ).</a:t>
            </a:r>
          </a:p>
          <a:p>
            <a:r>
              <a:rPr lang="en-US" sz="1200"/>
              <a:t>7. Reduced Stress</a:t>
            </a:r>
          </a:p>
          <a:p>
            <a:r>
              <a:rPr lang="en-US" sz="1200"/>
              <a:t>                 Automates planning and organizes study materials</a:t>
            </a:r>
          </a:p>
        </p:txBody>
      </p:sp>
    </p:spTree>
    <p:extLst>
      <p:ext uri="{BB962C8B-B14F-4D97-AF65-F5344CB8AC3E}">
        <p14:creationId xmlns:p14="http://schemas.microsoft.com/office/powerpoint/2010/main" val="463481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73781-E3E5-409D-DDDE-775DB7A07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431461"/>
          </a:xfrm>
        </p:spPr>
        <p:txBody>
          <a:bodyPr>
            <a:normAutofit/>
          </a:bodyPr>
          <a:lstStyle/>
          <a:p>
            <a:r>
              <a:rPr lang="en-US" sz="2400"/>
              <a:t>USER - EXPERIENCE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10B103-7F5E-7407-D8E4-D48388B2E24F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473489" y="1158324"/>
            <a:ext cx="7098813" cy="37394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47003C-CCD1-6ACB-460A-9EBDF4E182E1}"/>
              </a:ext>
            </a:extLst>
          </p:cNvPr>
          <p:cNvSpPr txBox="1"/>
          <p:nvPr/>
        </p:nvSpPr>
        <p:spPr>
          <a:xfrm>
            <a:off x="1675573" y="5292883"/>
            <a:ext cx="7334353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1:DASHBOARD WITH </a:t>
            </a:r>
            <a:r>
              <a:rPr lang="en-US" b="1"/>
              <a:t>SMART AI FEATURES</a:t>
            </a:r>
          </a:p>
          <a:p>
            <a:r>
              <a:rPr lang="en-US"/>
              <a:t>           (AI-generated study plan ,pomodoro focus timers ,</a:t>
            </a:r>
          </a:p>
          <a:p>
            <a:r>
              <a:rPr lang="en-US"/>
              <a:t>            Smart learning hub , AI academic insights)</a:t>
            </a:r>
          </a:p>
        </p:txBody>
      </p:sp>
    </p:spTree>
    <p:extLst>
      <p:ext uri="{BB962C8B-B14F-4D97-AF65-F5344CB8AC3E}">
        <p14:creationId xmlns:p14="http://schemas.microsoft.com/office/powerpoint/2010/main" val="2197153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8B9419-52FF-D75D-65B3-20F1920091D6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3923438" y="683664"/>
            <a:ext cx="3774183" cy="4441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9DD2AB-9D47-362F-9E34-229CFE0803E3}"/>
              </a:ext>
            </a:extLst>
          </p:cNvPr>
          <p:cNvSpPr txBox="1"/>
          <p:nvPr/>
        </p:nvSpPr>
        <p:spPr>
          <a:xfrm>
            <a:off x="1413538" y="5125373"/>
            <a:ext cx="8795346" cy="120032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2 : AI GENERATES A </a:t>
            </a:r>
            <a:r>
              <a:rPr lang="en-US" b="1"/>
              <a:t>STUDY TIMETABLE</a:t>
            </a:r>
            <a:r>
              <a:rPr lang="en-US"/>
              <a:t> ACCORDING TO USER</a:t>
            </a:r>
          </a:p>
          <a:p>
            <a:r>
              <a:rPr lang="en-US"/>
              <a:t>                  REQUIREMENTS AND PRIORITIES BASED ON ACADEMIC </a:t>
            </a:r>
          </a:p>
          <a:p>
            <a:r>
              <a:rPr lang="en-US"/>
              <a:t>                  ANALYTICS.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33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DC81DD-958E-02B1-03D8-F1EAE824AA87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3525489" y="319712"/>
            <a:ext cx="4442283" cy="4658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07FCEA-4665-777A-BBC8-34B419375486}"/>
              </a:ext>
            </a:extLst>
          </p:cNvPr>
          <p:cNvSpPr txBox="1"/>
          <p:nvPr/>
        </p:nvSpPr>
        <p:spPr>
          <a:xfrm>
            <a:off x="1644156" y="5389493"/>
            <a:ext cx="868156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3 : USER CAN ENTER THEIR SYLLABUS TO GENERATE AN IMMACULATE </a:t>
            </a:r>
          </a:p>
          <a:p>
            <a:r>
              <a:rPr lang="en-US"/>
              <a:t>                  STUDY PLAN.</a:t>
            </a:r>
          </a:p>
        </p:txBody>
      </p:sp>
    </p:spTree>
    <p:extLst>
      <p:ext uri="{BB962C8B-B14F-4D97-AF65-F5344CB8AC3E}">
        <p14:creationId xmlns:p14="http://schemas.microsoft.com/office/powerpoint/2010/main" val="1813709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3BD184-B5F8-791A-43CD-C5A51E63372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787624" y="442358"/>
            <a:ext cx="7719797" cy="44793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4F3DC7-B00C-6CA7-21AE-C12752DE1577}"/>
              </a:ext>
            </a:extLst>
          </p:cNvPr>
          <p:cNvSpPr txBox="1"/>
          <p:nvPr/>
        </p:nvSpPr>
        <p:spPr>
          <a:xfrm>
            <a:off x="1256680" y="5609412"/>
            <a:ext cx="9791634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4 : TO ENHANCE THE USER'S FOCUS , </a:t>
            </a:r>
            <a:r>
              <a:rPr lang="en-US" b="1" dirty="0"/>
              <a:t>POMODORO FOCUS TIMER</a:t>
            </a:r>
            <a:r>
              <a:rPr lang="en-US" dirty="0"/>
              <a:t> IS</a:t>
            </a:r>
          </a:p>
          <a:p>
            <a:r>
              <a:rPr lang="en-US"/>
              <a:t>                   AMALGAMATED.</a:t>
            </a:r>
          </a:p>
        </p:txBody>
      </p:sp>
    </p:spTree>
    <p:extLst>
      <p:ext uri="{BB962C8B-B14F-4D97-AF65-F5344CB8AC3E}">
        <p14:creationId xmlns:p14="http://schemas.microsoft.com/office/powerpoint/2010/main" val="42551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C66A921-3166-D46F-5804-1891E80D7BCF}"/>
              </a:ext>
            </a:extLst>
          </p:cNvPr>
          <p:cNvSpPr txBox="1"/>
          <p:nvPr/>
        </p:nvSpPr>
        <p:spPr>
          <a:xfrm>
            <a:off x="1240855" y="5519933"/>
            <a:ext cx="9172289" cy="1477328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5  :SMART AI-POWERED NOTES GENERATOR</a:t>
            </a:r>
          </a:p>
          <a:p>
            <a:r>
              <a:rPr lang="en-US"/>
              <a:t>                 (generates preferred type of notes like text , flowcharts , </a:t>
            </a:r>
          </a:p>
          <a:p>
            <a:r>
              <a:rPr lang="en-US"/>
              <a:t>                 Mind maps , flashcards , keywords , customized mock tests etc...),</a:t>
            </a:r>
          </a:p>
          <a:p>
            <a:r>
              <a:rPr lang="en-US" dirty="0"/>
              <a:t>                 It also offers text to speech option.</a:t>
            </a:r>
          </a:p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37A641-4010-2CDC-6967-973E694A9ED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5945897" y="320831"/>
            <a:ext cx="3849960" cy="2584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017773-A7C8-EB7B-4125-9C87217AE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525" y="320468"/>
            <a:ext cx="4589797" cy="2582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7312A4-21BE-1FCB-0EED-E85864769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075" y="3117143"/>
            <a:ext cx="4583543" cy="22718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6B5D63-7608-D8F0-40FF-245A78483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0204" y="3113110"/>
            <a:ext cx="3855460" cy="228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19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A8898A-E036-8688-9ABD-2C3E6E50C186}"/>
              </a:ext>
            </a:extLst>
          </p:cNvPr>
          <p:cNvSpPr txBox="1"/>
          <p:nvPr/>
        </p:nvSpPr>
        <p:spPr>
          <a:xfrm>
            <a:off x="1675303" y="5851664"/>
            <a:ext cx="8418403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6 : AI ANALYSES USER'S PERFORMANCE.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2B67172E-40C1-744A-9E9C-42B217548AF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476966" y="527948"/>
            <a:ext cx="8081040" cy="471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75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A36B4C3-F40A-1A49-9F70-9C9070A411C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641803" y="327578"/>
            <a:ext cx="8227562" cy="4695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7FB480-3B25-6915-327F-5E2DDB7605F5}"/>
              </a:ext>
            </a:extLst>
          </p:cNvPr>
          <p:cNvSpPr txBox="1"/>
          <p:nvPr/>
        </p:nvSpPr>
        <p:spPr>
          <a:xfrm>
            <a:off x="2013822" y="5627682"/>
            <a:ext cx="8498333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FIGURE 7 : AI ASSISTANCE ASSISTS THE USER THROUGHOUT THE STUDY </a:t>
            </a:r>
          </a:p>
          <a:p>
            <a:r>
              <a:rPr lang="en-US"/>
              <a:t>                  SESSION (answers questions instantly like a tutor).</a:t>
            </a:r>
            <a:r>
              <a:rPr lang="en-US" dirty="0"/>
              <a:t>  </a:t>
            </a:r>
          </a:p>
        </p:txBody>
      </p:sp>
    </p:spTree>
    <p:extLst>
      <p:ext uri="{BB962C8B-B14F-4D97-AF65-F5344CB8AC3E}">
        <p14:creationId xmlns:p14="http://schemas.microsoft.com/office/powerpoint/2010/main" val="4180050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/>
          <a:lstStyle/>
          <a:p>
            <a:r>
              <a:rPr lang="en-US"/>
              <a:t>TRINITY TEAM MEMBERS:</a:t>
            </a:r>
          </a:p>
          <a:p>
            <a:pPr marL="388620" indent="-342900">
              <a:buFont typeface="Wingdings" pitchFamily="34" charset="0"/>
              <a:buChar char="q"/>
            </a:pPr>
            <a:r>
              <a:rPr lang="en-US"/>
              <a:t>ARJUN S</a:t>
            </a:r>
          </a:p>
          <a:p>
            <a:pPr marL="388620" indent="-342900">
              <a:buClr>
                <a:srgbClr val="595959"/>
              </a:buClr>
              <a:buFont typeface="Wingdings" pitchFamily="34" charset="0"/>
              <a:buChar char="q"/>
            </a:pPr>
            <a:r>
              <a:rPr lang="en-US"/>
              <a:t>NANDHINI V</a:t>
            </a:r>
          </a:p>
          <a:p>
            <a:pPr marL="388620" indent="-342900">
              <a:buClr>
                <a:srgbClr val="595959"/>
              </a:buClr>
              <a:buFont typeface="Wingdings" pitchFamily="34" charset="0"/>
              <a:buChar char="q"/>
            </a:pPr>
            <a:r>
              <a:rPr lang="en-US"/>
              <a:t>ALBATHUL I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Custom</vt:lpstr>
      <vt:lpstr>SMART AI  STUDY PLANNER</vt:lpstr>
      <vt:lpstr>TABLE OF CONTENTS</vt:lpstr>
      <vt:lpstr>PROBLEM STATEMENT</vt:lpstr>
      <vt:lpstr>PowerPoint Presentation</vt:lpstr>
      <vt:lpstr> TECHNICAL APPROACH</vt:lpstr>
      <vt:lpstr>FEASIBILITY AND VIABILITY</vt:lpstr>
      <vt:lpstr>BENEFITS</vt:lpstr>
      <vt:lpstr>USER -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91</cp:revision>
  <dcterms:created xsi:type="dcterms:W3CDTF">2026-03-31T19:22:14Z</dcterms:created>
  <dcterms:modified xsi:type="dcterms:W3CDTF">2026-04-01T08:41:48Z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